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bf3089c1e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bf3089c1e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bf3089c1e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bf3089c1e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bf3089c1e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bf3089c1e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bf3089c1e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bf3089c1e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bf3089c1e4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bf3089c1e4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bf3089c1e4_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bf3089c1e4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f3089c1e4_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bf3089c1e4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bf3089c1e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bf3089c1e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bf3089c1e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bf3089c1e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bf3089c1e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bf3089c1e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bf3089c1e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bf3089c1e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bf3089c0e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bf3089c0e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bf3089c1e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bf3089c1e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bf3089c0e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bf3089c0e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bf3089c0e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bf3089c0e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bf3089c1e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bf3089c1e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bf3089c1e4_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bf3089c1e4_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bf3089c1e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bf3089c1e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5400">
                <a:solidFill>
                  <a:srgbClr val="90C226"/>
                </a:solidFill>
                <a:latin typeface="Trebuchet MS"/>
                <a:ea typeface="Trebuchet MS"/>
                <a:cs typeface="Trebuchet MS"/>
                <a:sym typeface="Trebuchet MS"/>
              </a:rPr>
              <a:t>Wisconsin Breast Cancer</a:t>
            </a:r>
            <a:endParaRPr sz="5400">
              <a:solidFill>
                <a:srgbClr val="90C226"/>
              </a:solidFill>
              <a:latin typeface="Trebuchet MS"/>
              <a:ea typeface="Trebuchet MS"/>
              <a:cs typeface="Trebuchet MS"/>
              <a:sym typeface="Trebuchet MS"/>
            </a:endParaRPr>
          </a:p>
          <a:p>
            <a:pPr indent="0" lvl="0" marL="0" rtl="0" algn="ctr">
              <a:spcBef>
                <a:spcPts val="0"/>
              </a:spcBef>
              <a:spcAft>
                <a:spcPts val="0"/>
              </a:spcAft>
              <a:buNone/>
            </a:pPr>
            <a:r>
              <a:rPr lang="en" sz="5400">
                <a:solidFill>
                  <a:srgbClr val="90C226"/>
                </a:solidFill>
                <a:latin typeface="Trebuchet MS"/>
                <a:ea typeface="Trebuchet MS"/>
                <a:cs typeface="Trebuchet MS"/>
                <a:sym typeface="Trebuchet MS"/>
              </a:rPr>
              <a:t>Report of XAI</a:t>
            </a:r>
            <a:endParaRPr/>
          </a:p>
        </p:txBody>
      </p:sp>
      <p:sp>
        <p:nvSpPr>
          <p:cNvPr id="55" name="Google Shape;55;p13"/>
          <p:cNvSpPr txBox="1"/>
          <p:nvPr>
            <p:ph idx="1" type="subTitle"/>
          </p:nvPr>
        </p:nvSpPr>
        <p:spPr>
          <a:xfrm>
            <a:off x="399850" y="2856150"/>
            <a:ext cx="3681000" cy="7926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1000"/>
              </a:spcBef>
              <a:spcAft>
                <a:spcPts val="0"/>
              </a:spcAft>
              <a:buClr>
                <a:schemeClr val="dk1"/>
              </a:buClr>
              <a:buSzPts val="1100"/>
              <a:buFont typeface="Arial"/>
              <a:buNone/>
            </a:pPr>
            <a:r>
              <a:rPr lang="en" sz="1800">
                <a:solidFill>
                  <a:srgbClr val="7F7F7F"/>
                </a:solidFill>
                <a:latin typeface="Trebuchet MS"/>
                <a:ea typeface="Trebuchet MS"/>
                <a:cs typeface="Trebuchet MS"/>
                <a:sym typeface="Trebuchet MS"/>
              </a:rPr>
              <a:t>G.Aliyev, A.Zafaranchi, I.Tondji</a:t>
            </a:r>
            <a:endParaRPr sz="1800">
              <a:solidFill>
                <a:srgbClr val="7F7F7F"/>
              </a:solidFill>
              <a:latin typeface="Trebuchet MS"/>
              <a:ea typeface="Trebuchet MS"/>
              <a:cs typeface="Trebuchet MS"/>
              <a:sym typeface="Trebuchet MS"/>
            </a:endParaRPr>
          </a:p>
          <a:p>
            <a:pPr indent="0" lvl="0" marL="0" rtl="0" algn="ctr">
              <a:spcBef>
                <a:spcPts val="0"/>
              </a:spcBef>
              <a:spcAft>
                <a:spcPts val="0"/>
              </a:spcAft>
              <a:buNone/>
            </a:pPr>
            <a:r>
              <a:t/>
            </a:r>
            <a:endParaRPr/>
          </a:p>
        </p:txBody>
      </p:sp>
      <p:sp>
        <p:nvSpPr>
          <p:cNvPr id="56" name="Google Shape;56;p13"/>
          <p:cNvSpPr txBox="1"/>
          <p:nvPr>
            <p:ph idx="1" type="subTitle"/>
          </p:nvPr>
        </p:nvSpPr>
        <p:spPr>
          <a:xfrm>
            <a:off x="6286050" y="2797175"/>
            <a:ext cx="2675400" cy="7926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1000"/>
              </a:spcBef>
              <a:spcAft>
                <a:spcPts val="0"/>
              </a:spcAft>
              <a:buClr>
                <a:schemeClr val="dk1"/>
              </a:buClr>
              <a:buSzPct val="61111"/>
              <a:buFont typeface="Arial"/>
              <a:buNone/>
            </a:pPr>
            <a:r>
              <a:rPr lang="en" sz="1800">
                <a:solidFill>
                  <a:srgbClr val="7F7F7F"/>
                </a:solidFill>
                <a:latin typeface="Trebuchet MS"/>
                <a:ea typeface="Trebuchet MS"/>
                <a:cs typeface="Trebuchet MS"/>
                <a:sym typeface="Trebuchet MS"/>
              </a:rPr>
              <a:t>Prof. Fosca Giannotti</a:t>
            </a:r>
            <a:endParaRPr sz="1800">
              <a:solidFill>
                <a:srgbClr val="7F7F7F"/>
              </a:solidFill>
              <a:latin typeface="Trebuchet MS"/>
              <a:ea typeface="Trebuchet MS"/>
              <a:cs typeface="Trebuchet MS"/>
              <a:sym typeface="Trebuchet MS"/>
            </a:endParaRPr>
          </a:p>
          <a:p>
            <a:pPr indent="0" lvl="0" marL="0" rtl="0" algn="l">
              <a:lnSpc>
                <a:spcPct val="115000"/>
              </a:lnSpc>
              <a:spcBef>
                <a:spcPts val="1000"/>
              </a:spcBef>
              <a:spcAft>
                <a:spcPts val="0"/>
              </a:spcAft>
              <a:buClr>
                <a:schemeClr val="dk1"/>
              </a:buClr>
              <a:buSzPct val="61111"/>
              <a:buFont typeface="Arial"/>
              <a:buNone/>
            </a:pPr>
            <a:r>
              <a:rPr lang="en" sz="1800">
                <a:solidFill>
                  <a:srgbClr val="7F7F7F"/>
                </a:solidFill>
                <a:latin typeface="Trebuchet MS"/>
                <a:ea typeface="Trebuchet MS"/>
                <a:cs typeface="Trebuchet MS"/>
                <a:sym typeface="Trebuchet MS"/>
              </a:rPr>
              <a:t>Prof. Roberto Pellungrini</a:t>
            </a:r>
            <a:endParaRPr sz="1800">
              <a:solidFill>
                <a:srgbClr val="7F7F7F"/>
              </a:solidFill>
              <a:latin typeface="Trebuchet MS"/>
              <a:ea typeface="Trebuchet MS"/>
              <a:cs typeface="Trebuchet MS"/>
              <a:sym typeface="Trebuchet MS"/>
            </a:endParaRPr>
          </a:p>
        </p:txBody>
      </p:sp>
      <p:sp>
        <p:nvSpPr>
          <p:cNvPr id="57" name="Google Shape;57;p13"/>
          <p:cNvSpPr txBox="1"/>
          <p:nvPr/>
        </p:nvSpPr>
        <p:spPr>
          <a:xfrm>
            <a:off x="3734700" y="4383150"/>
            <a:ext cx="167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4 March 2024</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solidFill>
                  <a:srgbClr val="90C226"/>
                </a:solidFill>
                <a:latin typeface="Trebuchet MS"/>
                <a:ea typeface="Trebuchet MS"/>
                <a:cs typeface="Trebuchet MS"/>
                <a:sym typeface="Trebuchet MS"/>
              </a:rPr>
              <a:t>Introduction</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What is breast cancer?</a:t>
            </a:r>
            <a:endParaRPr sz="1600"/>
          </a:p>
          <a:p>
            <a:pPr indent="-330200" lvl="0" marL="457200" rtl="0" algn="l">
              <a:spcBef>
                <a:spcPts val="0"/>
              </a:spcBef>
              <a:spcAft>
                <a:spcPts val="0"/>
              </a:spcAft>
              <a:buSzPts val="1600"/>
              <a:buChar char="●"/>
            </a:pPr>
            <a:r>
              <a:rPr lang="en" sz="1600"/>
              <a:t>Tumors can be </a:t>
            </a:r>
            <a:r>
              <a:rPr b="1" lang="en" sz="1600"/>
              <a:t>b</a:t>
            </a:r>
            <a:r>
              <a:rPr b="1" lang="en" sz="1600"/>
              <a:t>enign</a:t>
            </a:r>
            <a:r>
              <a:rPr lang="en" sz="1600"/>
              <a:t> or </a:t>
            </a:r>
            <a:r>
              <a:rPr b="1" lang="en" sz="1600"/>
              <a:t>malignant</a:t>
            </a:r>
            <a:endParaRPr b="1" sz="1600"/>
          </a:p>
          <a:p>
            <a:pPr indent="-330200" lvl="0" marL="457200" rtl="0" algn="l">
              <a:spcBef>
                <a:spcPts val="0"/>
              </a:spcBef>
              <a:spcAft>
                <a:spcPts val="0"/>
              </a:spcAft>
              <a:buSzPts val="1600"/>
              <a:buChar char="●"/>
            </a:pPr>
            <a:r>
              <a:rPr lang="en" sz="1600"/>
              <a:t>T</a:t>
            </a:r>
            <a:r>
              <a:rPr lang="en" sz="1600"/>
              <a:t>raditional method of the diagnosis is conducted by </a:t>
            </a:r>
            <a:r>
              <a:rPr b="1" lang="en" sz="1600"/>
              <a:t>radiologists</a:t>
            </a:r>
            <a:endParaRPr b="1" sz="1600"/>
          </a:p>
          <a:p>
            <a:pPr indent="-330200" lvl="0" marL="457200" rtl="0" algn="l">
              <a:spcBef>
                <a:spcPts val="0"/>
              </a:spcBef>
              <a:spcAft>
                <a:spcPts val="0"/>
              </a:spcAft>
              <a:buSzPts val="1600"/>
              <a:buChar char="●"/>
            </a:pPr>
            <a:r>
              <a:rPr lang="en" sz="1600"/>
              <a:t>Radiologists conduct the analysis manually by checking texture and morphological features in image</a:t>
            </a:r>
            <a:endParaRPr sz="1600"/>
          </a:p>
          <a:p>
            <a:pPr indent="-330200" lvl="0" marL="457200" rtl="0" algn="l">
              <a:spcBef>
                <a:spcPts val="0"/>
              </a:spcBef>
              <a:spcAft>
                <a:spcPts val="0"/>
              </a:spcAft>
              <a:buSzPts val="1600"/>
              <a:buChar char="●"/>
            </a:pPr>
            <a:r>
              <a:rPr lang="en" sz="1600"/>
              <a:t>Recently, </a:t>
            </a:r>
            <a:r>
              <a:rPr lang="en" sz="1600"/>
              <a:t>AI models are trained to classify tumors. However, black box models do not explain their classification process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solidFill>
                  <a:srgbClr val="90C226"/>
                </a:solidFill>
                <a:latin typeface="Trebuchet MS"/>
                <a:ea typeface="Trebuchet MS"/>
                <a:cs typeface="Trebuchet MS"/>
                <a:sym typeface="Trebuchet MS"/>
              </a:rPr>
              <a:t>Dataset</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The dataset is tabular data describing the features of each instance (tumor)</a:t>
            </a:r>
            <a:endParaRPr sz="1600"/>
          </a:p>
          <a:p>
            <a:pPr indent="-330200" lvl="0" marL="457200" rtl="0" algn="l">
              <a:spcBef>
                <a:spcPts val="0"/>
              </a:spcBef>
              <a:spcAft>
                <a:spcPts val="0"/>
              </a:spcAft>
              <a:buSzPts val="1600"/>
              <a:buChar char="●"/>
            </a:pPr>
            <a:r>
              <a:rPr b="1" lang="en" sz="1600"/>
              <a:t>Identified</a:t>
            </a:r>
            <a:r>
              <a:rPr lang="en" sz="1600"/>
              <a:t> with an ID number,</a:t>
            </a:r>
            <a:r>
              <a:rPr b="1" lang="en" sz="1600"/>
              <a:t> target feature</a:t>
            </a:r>
            <a:r>
              <a:rPr lang="en" sz="1600"/>
              <a:t> is the diagnosis (M: malignant, B: benign)</a:t>
            </a:r>
            <a:endParaRPr sz="1600"/>
          </a:p>
          <a:p>
            <a:pPr indent="-330200" lvl="0" marL="457200" rtl="0" algn="l">
              <a:spcBef>
                <a:spcPts val="0"/>
              </a:spcBef>
              <a:spcAft>
                <a:spcPts val="0"/>
              </a:spcAft>
              <a:buSzPts val="1600"/>
              <a:buChar char="●"/>
            </a:pPr>
            <a:r>
              <a:rPr b="1" lang="en" sz="1600"/>
              <a:t>Other features are</a:t>
            </a:r>
            <a:r>
              <a:rPr lang="en" sz="1600"/>
              <a:t>: radius, texture, perimeter, area, smoothness, compactness, concavity, concave points, symmetry and fractal dimension</a:t>
            </a:r>
            <a:endParaRPr sz="1600"/>
          </a:p>
          <a:p>
            <a:pPr indent="-330200" lvl="0" marL="457200" rtl="0" algn="l">
              <a:spcBef>
                <a:spcPts val="0"/>
              </a:spcBef>
              <a:spcAft>
                <a:spcPts val="0"/>
              </a:spcAft>
              <a:buSzPts val="1600"/>
              <a:buChar char="●"/>
            </a:pPr>
            <a:r>
              <a:rPr lang="en" sz="1600"/>
              <a:t>Mean, standard error and maximum values of each feature are calculated and added (32 features in total)</a:t>
            </a:r>
            <a:endParaRPr sz="1600"/>
          </a:p>
          <a:p>
            <a:pPr indent="-330200" lvl="0" marL="457200" rtl="0" algn="l">
              <a:spcBef>
                <a:spcPts val="0"/>
              </a:spcBef>
              <a:spcAft>
                <a:spcPts val="0"/>
              </a:spcAft>
              <a:buSzPts val="1600"/>
              <a:buChar char="●"/>
            </a:pPr>
            <a:r>
              <a:rPr lang="en" sz="1600"/>
              <a:t>There are 569 instances (B: 357, M: 212), no missing attribute value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Model</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07340" lvl="0" marL="457200" rtl="0" algn="l">
              <a:spcBef>
                <a:spcPts val="0"/>
              </a:spcBef>
              <a:spcAft>
                <a:spcPts val="0"/>
              </a:spcAft>
              <a:buSzPct val="100000"/>
              <a:buChar char="●"/>
            </a:pPr>
            <a:r>
              <a:rPr lang="en" sz="1600"/>
              <a:t>Neural Network </a:t>
            </a:r>
            <a:r>
              <a:rPr lang="en" sz="1600"/>
              <a:t>build with Pytorch framework</a:t>
            </a:r>
            <a:endParaRPr sz="1600"/>
          </a:p>
          <a:p>
            <a:pPr indent="-307340" lvl="0" marL="457200" rtl="0" algn="l">
              <a:spcBef>
                <a:spcPts val="0"/>
              </a:spcBef>
              <a:spcAft>
                <a:spcPts val="0"/>
              </a:spcAft>
              <a:buSzPct val="100000"/>
              <a:buChar char="●"/>
            </a:pPr>
            <a:r>
              <a:rPr lang="en" sz="1600"/>
              <a:t>Input layer: 30, hidden layer: 64, output layer: 2</a:t>
            </a:r>
            <a:endParaRPr b="1" sz="1600"/>
          </a:p>
          <a:p>
            <a:pPr indent="-307340" lvl="0" marL="457200" rtl="0" algn="l">
              <a:spcBef>
                <a:spcPts val="0"/>
              </a:spcBef>
              <a:spcAft>
                <a:spcPts val="0"/>
              </a:spcAft>
              <a:buSzPct val="100000"/>
              <a:buChar char="●"/>
            </a:pPr>
            <a:r>
              <a:rPr lang="en" sz="1600"/>
              <a:t>Hyperparameters (batch size:16, epoch: 10, lr:0.001)</a:t>
            </a:r>
            <a:endParaRPr sz="1600"/>
          </a:p>
          <a:p>
            <a:pPr indent="-307340" lvl="0" marL="457200" rtl="0" algn="l">
              <a:spcBef>
                <a:spcPts val="0"/>
              </a:spcBef>
              <a:spcAft>
                <a:spcPts val="0"/>
              </a:spcAft>
              <a:buSzPct val="100000"/>
              <a:buChar char="●"/>
            </a:pPr>
            <a:r>
              <a:rPr lang="en" sz="1600"/>
              <a:t>Loss function: Cross entropy loss</a:t>
            </a:r>
            <a:endParaRPr sz="1600"/>
          </a:p>
          <a:p>
            <a:pPr indent="-307340" lvl="0" marL="457200" rtl="0" algn="l">
              <a:spcBef>
                <a:spcPts val="0"/>
              </a:spcBef>
              <a:spcAft>
                <a:spcPts val="0"/>
              </a:spcAft>
              <a:buSzPct val="100000"/>
              <a:buChar char="●"/>
            </a:pPr>
            <a:r>
              <a:rPr lang="en" sz="1600"/>
              <a:t>Optimizer: Adam</a:t>
            </a:r>
            <a:endParaRPr sz="1600"/>
          </a:p>
          <a:p>
            <a:pPr indent="0" lvl="0" marL="457200" rtl="0" algn="l">
              <a:spcBef>
                <a:spcPts val="1200"/>
              </a:spcBef>
              <a:spcAft>
                <a:spcPts val="0"/>
              </a:spcAft>
              <a:buNone/>
            </a:pPr>
            <a:r>
              <a:t/>
            </a:r>
            <a:endParaRPr sz="1600"/>
          </a:p>
          <a:p>
            <a:pPr indent="-307340" lvl="0" marL="457200" rtl="0" algn="l">
              <a:spcBef>
                <a:spcPts val="1200"/>
              </a:spcBef>
              <a:spcAft>
                <a:spcPts val="0"/>
              </a:spcAft>
              <a:buSzPct val="100000"/>
              <a:buChar char="●"/>
            </a:pPr>
            <a:r>
              <a:rPr lang="en" sz="1600"/>
              <a:t>Results:</a:t>
            </a:r>
            <a:endParaRPr sz="1600"/>
          </a:p>
          <a:p>
            <a:pPr indent="0" lvl="0" marL="457200" rtl="0" algn="l">
              <a:spcBef>
                <a:spcPts val="1200"/>
              </a:spcBef>
              <a:spcAft>
                <a:spcPts val="0"/>
              </a:spcAft>
              <a:buClr>
                <a:schemeClr val="dk1"/>
              </a:buClr>
              <a:buSzPct val="68750"/>
              <a:buFont typeface="Arial"/>
              <a:buNone/>
            </a:pPr>
            <a:r>
              <a:rPr lang="en" sz="1600"/>
              <a:t>Accuracy: 0.9298</a:t>
            </a:r>
            <a:endParaRPr sz="1600"/>
          </a:p>
          <a:p>
            <a:pPr indent="0" lvl="0" marL="457200" rtl="0" algn="l">
              <a:spcBef>
                <a:spcPts val="1200"/>
              </a:spcBef>
              <a:spcAft>
                <a:spcPts val="0"/>
              </a:spcAft>
              <a:buClr>
                <a:schemeClr val="dk1"/>
              </a:buClr>
              <a:buSzPct val="68750"/>
              <a:buFont typeface="Arial"/>
              <a:buNone/>
            </a:pPr>
            <a:r>
              <a:rPr lang="en" sz="1600"/>
              <a:t>Precision: 0.8431</a:t>
            </a:r>
            <a:endParaRPr sz="1600"/>
          </a:p>
          <a:p>
            <a:pPr indent="0" lvl="0" marL="457200" rtl="0" algn="l">
              <a:spcBef>
                <a:spcPts val="1200"/>
              </a:spcBef>
              <a:spcAft>
                <a:spcPts val="0"/>
              </a:spcAft>
              <a:buClr>
                <a:schemeClr val="dk1"/>
              </a:buClr>
              <a:buSzPct val="68750"/>
              <a:buFont typeface="Arial"/>
              <a:buNone/>
            </a:pPr>
            <a:r>
              <a:rPr lang="en" sz="1600"/>
              <a:t>Recall: 1.0000</a:t>
            </a:r>
            <a:endParaRPr sz="1600"/>
          </a:p>
          <a:p>
            <a:pPr indent="0" lvl="0" marL="457200" rtl="0" algn="l">
              <a:spcBef>
                <a:spcPts val="1200"/>
              </a:spcBef>
              <a:spcAft>
                <a:spcPts val="0"/>
              </a:spcAft>
              <a:buClr>
                <a:schemeClr val="dk1"/>
              </a:buClr>
              <a:buSzPct val="68750"/>
              <a:buFont typeface="Arial"/>
              <a:buNone/>
            </a:pPr>
            <a:r>
              <a:rPr lang="en" sz="1600"/>
              <a:t>F1 Score: 0.9149</a:t>
            </a:r>
            <a:endParaRPr sz="1600"/>
          </a:p>
          <a:p>
            <a:pPr indent="0" lvl="0" marL="0" rtl="0" algn="l">
              <a:spcBef>
                <a:spcPts val="1200"/>
              </a:spcBef>
              <a:spcAft>
                <a:spcPts val="120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86175" y="445025"/>
            <a:ext cx="87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540">
                <a:solidFill>
                  <a:srgbClr val="90C226"/>
                </a:solidFill>
                <a:latin typeface="Trebuchet MS"/>
                <a:ea typeface="Trebuchet MS"/>
                <a:cs typeface="Trebuchet MS"/>
                <a:sym typeface="Trebuchet MS"/>
              </a:rPr>
              <a:t>Lime(Local Interpretable Model-agnostic Explanations)</a:t>
            </a:r>
            <a:endParaRPr sz="1820"/>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600"/>
          </a:p>
          <a:p>
            <a:pPr indent="-330200" lvl="0" marL="457200" rtl="0" algn="l">
              <a:spcBef>
                <a:spcPts val="1200"/>
              </a:spcBef>
              <a:spcAft>
                <a:spcPts val="0"/>
              </a:spcAft>
              <a:buSzPts val="1600"/>
              <a:buChar char="●"/>
            </a:pPr>
            <a:r>
              <a:rPr b="1" lang="en" sz="1600"/>
              <a:t>Select an individual instance</a:t>
            </a:r>
            <a:r>
              <a:rPr lang="en" sz="1600"/>
              <a:t> from your dataset that you want to explain</a:t>
            </a:r>
            <a:endParaRPr sz="1600"/>
          </a:p>
          <a:p>
            <a:pPr indent="-330200" lvl="0" marL="457200" rtl="0" algn="l">
              <a:spcBef>
                <a:spcPts val="0"/>
              </a:spcBef>
              <a:spcAft>
                <a:spcPts val="0"/>
              </a:spcAft>
              <a:buSzPts val="1600"/>
              <a:buChar char="●"/>
            </a:pPr>
            <a:r>
              <a:rPr b="1" lang="en" sz="1600"/>
              <a:t>Generate perturbed samples</a:t>
            </a:r>
            <a:r>
              <a:rPr lang="en" sz="1600"/>
              <a:t> around the selected instance</a:t>
            </a:r>
            <a:endParaRPr sz="1600"/>
          </a:p>
          <a:p>
            <a:pPr indent="-330200" lvl="0" marL="457200" rtl="0" algn="l">
              <a:spcBef>
                <a:spcPts val="0"/>
              </a:spcBef>
              <a:spcAft>
                <a:spcPts val="0"/>
              </a:spcAft>
              <a:buSzPts val="1600"/>
              <a:buChar char="●"/>
            </a:pPr>
            <a:r>
              <a:rPr lang="en" sz="1600"/>
              <a:t>Use the black box model to predict outcomes for the perturbed samples.</a:t>
            </a:r>
            <a:endParaRPr sz="1600"/>
          </a:p>
          <a:p>
            <a:pPr indent="-330200" lvl="0" marL="457200" rtl="0" algn="l">
              <a:spcBef>
                <a:spcPts val="0"/>
              </a:spcBef>
              <a:spcAft>
                <a:spcPts val="0"/>
              </a:spcAft>
              <a:buSzPts val="1600"/>
              <a:buChar char="●"/>
            </a:pPr>
            <a:r>
              <a:rPr b="1" lang="en" sz="1600"/>
              <a:t>Assign weights to the perturbed samples</a:t>
            </a:r>
            <a:r>
              <a:rPr lang="en" sz="1600"/>
              <a:t> based on their similarity to the original instance</a:t>
            </a:r>
            <a:endParaRPr sz="1600"/>
          </a:p>
          <a:p>
            <a:pPr indent="-330200" lvl="0" marL="457200" rtl="0" algn="l">
              <a:spcBef>
                <a:spcPts val="0"/>
              </a:spcBef>
              <a:spcAft>
                <a:spcPts val="0"/>
              </a:spcAft>
              <a:buSzPts val="1600"/>
              <a:buChar char="●"/>
            </a:pPr>
            <a:r>
              <a:rPr b="1" lang="en" sz="1600"/>
              <a:t>Select an interpretable model type</a:t>
            </a:r>
            <a:r>
              <a:rPr lang="en" sz="1600"/>
              <a:t> to serve as the local model and Train this model on the perturbed dataset</a:t>
            </a:r>
            <a:endParaRPr sz="1600"/>
          </a:p>
          <a:p>
            <a:pPr indent="0" lvl="0" marL="0" rtl="0" algn="l">
              <a:spcBef>
                <a:spcPts val="1200"/>
              </a:spcBef>
              <a:spcAft>
                <a:spcPts val="1200"/>
              </a:spcAft>
              <a:buNone/>
            </a:pPr>
            <a:r>
              <a:t/>
            </a:r>
            <a:endParaRPr sz="1200">
              <a:solidFill>
                <a:srgbClr val="ECECEC"/>
              </a:solidFill>
              <a:highlight>
                <a:schemeClr val="accent2"/>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7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Lime (mispredicted)</a:t>
            </a:r>
            <a:endParaRPr/>
          </a:p>
        </p:txBody>
      </p:sp>
      <p:sp>
        <p:nvSpPr>
          <p:cNvPr id="87" name="Google Shape;87;p18"/>
          <p:cNvSpPr txBox="1"/>
          <p:nvPr>
            <p:ph idx="1" type="body"/>
          </p:nvPr>
        </p:nvSpPr>
        <p:spPr>
          <a:xfrm>
            <a:off x="484025" y="1206350"/>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sz="1600"/>
          </a:p>
          <a:p>
            <a:pPr indent="0" lvl="0" marL="0" rtl="0" algn="l">
              <a:spcBef>
                <a:spcPts val="1200"/>
              </a:spcBef>
              <a:spcAft>
                <a:spcPts val="1200"/>
              </a:spcAft>
              <a:buNone/>
            </a:pPr>
            <a:r>
              <a:t/>
            </a:r>
            <a:endParaRPr sz="1200">
              <a:solidFill>
                <a:srgbClr val="ECECEC"/>
              </a:solidFill>
              <a:highlight>
                <a:schemeClr val="accent2"/>
              </a:highlight>
              <a:latin typeface="Roboto"/>
              <a:ea typeface="Roboto"/>
              <a:cs typeface="Roboto"/>
              <a:sym typeface="Roboto"/>
            </a:endParaRPr>
          </a:p>
        </p:txBody>
      </p:sp>
      <p:pic>
        <p:nvPicPr>
          <p:cNvPr id="88" name="Google Shape;88;p18"/>
          <p:cNvPicPr preferRelativeResize="0"/>
          <p:nvPr/>
        </p:nvPicPr>
        <p:blipFill>
          <a:blip r:embed="rId3">
            <a:alphaModFix/>
          </a:blip>
          <a:stretch>
            <a:fillRect/>
          </a:stretch>
        </p:blipFill>
        <p:spPr>
          <a:xfrm>
            <a:off x="0" y="838488"/>
            <a:ext cx="3508925" cy="3466524"/>
          </a:xfrm>
          <a:prstGeom prst="rect">
            <a:avLst/>
          </a:prstGeom>
          <a:noFill/>
          <a:ln>
            <a:noFill/>
          </a:ln>
        </p:spPr>
      </p:pic>
      <p:pic>
        <p:nvPicPr>
          <p:cNvPr id="89" name="Google Shape;89;p18"/>
          <p:cNvPicPr preferRelativeResize="0"/>
          <p:nvPr/>
        </p:nvPicPr>
        <p:blipFill>
          <a:blip r:embed="rId4">
            <a:alphaModFix/>
          </a:blip>
          <a:stretch>
            <a:fillRect/>
          </a:stretch>
        </p:blipFill>
        <p:spPr>
          <a:xfrm>
            <a:off x="3339450" y="1206350"/>
            <a:ext cx="5948275" cy="3192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153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Lime (low confidence)</a:t>
            </a:r>
            <a:endParaRPr/>
          </a:p>
        </p:txBody>
      </p:sp>
      <p:pic>
        <p:nvPicPr>
          <p:cNvPr id="95" name="Google Shape;95;p19"/>
          <p:cNvPicPr preferRelativeResize="0"/>
          <p:nvPr/>
        </p:nvPicPr>
        <p:blipFill>
          <a:blip r:embed="rId3">
            <a:alphaModFix/>
          </a:blip>
          <a:stretch>
            <a:fillRect/>
          </a:stretch>
        </p:blipFill>
        <p:spPr>
          <a:xfrm>
            <a:off x="364575" y="646825"/>
            <a:ext cx="2366275" cy="4065851"/>
          </a:xfrm>
          <a:prstGeom prst="rect">
            <a:avLst/>
          </a:prstGeom>
          <a:noFill/>
          <a:ln>
            <a:noFill/>
          </a:ln>
        </p:spPr>
      </p:pic>
      <p:pic>
        <p:nvPicPr>
          <p:cNvPr id="96" name="Google Shape;96;p19"/>
          <p:cNvPicPr preferRelativeResize="0"/>
          <p:nvPr/>
        </p:nvPicPr>
        <p:blipFill>
          <a:blip r:embed="rId4">
            <a:alphaModFix/>
          </a:blip>
          <a:stretch>
            <a:fillRect/>
          </a:stretch>
        </p:blipFill>
        <p:spPr>
          <a:xfrm>
            <a:off x="3471225" y="934575"/>
            <a:ext cx="5447551" cy="2906525"/>
          </a:xfrm>
          <a:prstGeom prst="rect">
            <a:avLst/>
          </a:prstGeom>
          <a:noFill/>
          <a:ln>
            <a:noFill/>
          </a:ln>
        </p:spPr>
      </p:pic>
      <p:sp>
        <p:nvSpPr>
          <p:cNvPr id="97" name="Google Shape;97;p19"/>
          <p:cNvSpPr txBox="1"/>
          <p:nvPr>
            <p:ph idx="1" type="body"/>
          </p:nvPr>
        </p:nvSpPr>
        <p:spPr>
          <a:xfrm>
            <a:off x="2837050" y="3942925"/>
            <a:ext cx="8520600" cy="1339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The prediction here is associated the </a:t>
            </a:r>
            <a:endParaRPr sz="1600"/>
          </a:p>
          <a:p>
            <a:pPr indent="-330200" lvl="0" marL="457200" rtl="0" algn="l">
              <a:spcBef>
                <a:spcPts val="0"/>
              </a:spcBef>
              <a:spcAft>
                <a:spcPts val="0"/>
              </a:spcAft>
              <a:buSzPts val="1600"/>
              <a:buChar char="●"/>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153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Lime (high confidence)</a:t>
            </a:r>
            <a:endParaRPr/>
          </a:p>
        </p:txBody>
      </p:sp>
      <p:pic>
        <p:nvPicPr>
          <p:cNvPr id="103" name="Google Shape;103;p20"/>
          <p:cNvPicPr preferRelativeResize="0"/>
          <p:nvPr/>
        </p:nvPicPr>
        <p:blipFill>
          <a:blip r:embed="rId3">
            <a:alphaModFix/>
          </a:blip>
          <a:stretch>
            <a:fillRect/>
          </a:stretch>
        </p:blipFill>
        <p:spPr>
          <a:xfrm>
            <a:off x="59650" y="1087025"/>
            <a:ext cx="3593175" cy="3904025"/>
          </a:xfrm>
          <a:prstGeom prst="rect">
            <a:avLst/>
          </a:prstGeom>
          <a:noFill/>
          <a:ln>
            <a:noFill/>
          </a:ln>
        </p:spPr>
      </p:pic>
      <p:pic>
        <p:nvPicPr>
          <p:cNvPr id="104" name="Google Shape;104;p20"/>
          <p:cNvPicPr preferRelativeResize="0"/>
          <p:nvPr/>
        </p:nvPicPr>
        <p:blipFill>
          <a:blip r:embed="rId4">
            <a:alphaModFix/>
          </a:blip>
          <a:stretch>
            <a:fillRect/>
          </a:stretch>
        </p:blipFill>
        <p:spPr>
          <a:xfrm>
            <a:off x="3625850" y="1544375"/>
            <a:ext cx="5466650" cy="2923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Lore(</a:t>
            </a:r>
            <a:r>
              <a:rPr lang="en" sz="1933">
                <a:solidFill>
                  <a:srgbClr val="90C226"/>
                </a:solidFill>
                <a:latin typeface="Trebuchet MS"/>
                <a:ea typeface="Trebuchet MS"/>
                <a:cs typeface="Trebuchet MS"/>
                <a:sym typeface="Trebuchet MS"/>
              </a:rPr>
              <a:t>Local Rule-Based Explanations of Black Box Decision Systems</a:t>
            </a:r>
            <a:r>
              <a:rPr lang="en" sz="3600">
                <a:solidFill>
                  <a:srgbClr val="90C226"/>
                </a:solidFill>
                <a:latin typeface="Trebuchet MS"/>
                <a:ea typeface="Trebuchet MS"/>
                <a:cs typeface="Trebuchet MS"/>
                <a:sym typeface="Trebuchet MS"/>
              </a:rPr>
              <a:t>)</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600">
                <a:solidFill>
                  <a:srgbClr val="111111"/>
                </a:solidFill>
                <a:latin typeface="Courier New"/>
                <a:ea typeface="Courier New"/>
                <a:cs typeface="Courier New"/>
                <a:sym typeface="Courier New"/>
              </a:rPr>
              <a:t>O</a:t>
            </a:r>
            <a:r>
              <a:rPr lang="en" sz="1600">
                <a:solidFill>
                  <a:srgbClr val="111111"/>
                </a:solidFill>
                <a:latin typeface="Courier New"/>
                <a:ea typeface="Courier New"/>
                <a:cs typeface="Courier New"/>
                <a:sym typeface="Courier New"/>
              </a:rPr>
              <a:t> </a:t>
            </a:r>
            <a:r>
              <a:rPr b="1" lang="en" sz="1600">
                <a:solidFill>
                  <a:srgbClr val="111111"/>
                </a:solidFill>
              </a:rPr>
              <a:t>Agnostic Approach</a:t>
            </a:r>
            <a:r>
              <a:rPr lang="en" sz="1600">
                <a:solidFill>
                  <a:srgbClr val="111111"/>
                </a:solidFill>
              </a:rPr>
              <a:t>: LORE is model-agnostic, meaning it can explain decisions made by various supervised learning models without knowing their internal workings.</a:t>
            </a:r>
            <a:endParaRPr sz="1600">
              <a:solidFill>
                <a:srgbClr val="111111"/>
              </a:solidFill>
            </a:endParaRPr>
          </a:p>
          <a:p>
            <a:pPr indent="0" lvl="0" marL="0" rtl="0" algn="l">
              <a:spcBef>
                <a:spcPts val="1200"/>
              </a:spcBef>
              <a:spcAft>
                <a:spcPts val="0"/>
              </a:spcAft>
              <a:buNone/>
            </a:pPr>
            <a:r>
              <a:rPr lang="en" sz="1600">
                <a:solidFill>
                  <a:srgbClr val="111111"/>
                </a:solidFill>
                <a:latin typeface="Courier New"/>
                <a:ea typeface="Courier New"/>
                <a:cs typeface="Courier New"/>
                <a:sym typeface="Courier New"/>
              </a:rPr>
              <a:t>O</a:t>
            </a:r>
            <a:r>
              <a:rPr lang="en" sz="1600">
                <a:solidFill>
                  <a:srgbClr val="111111"/>
                </a:solidFill>
                <a:latin typeface="Times New Roman"/>
                <a:ea typeface="Times New Roman"/>
                <a:cs typeface="Times New Roman"/>
                <a:sym typeface="Times New Roman"/>
              </a:rPr>
              <a:t> </a:t>
            </a:r>
            <a:r>
              <a:rPr b="1" lang="en" sz="1600">
                <a:solidFill>
                  <a:srgbClr val="111111"/>
                </a:solidFill>
              </a:rPr>
              <a:t>Local Interpretability</a:t>
            </a:r>
            <a:r>
              <a:rPr lang="en" sz="1600">
                <a:solidFill>
                  <a:srgbClr val="111111"/>
                </a:solidFill>
              </a:rPr>
              <a:t>: It provides local explanations for individual predictions rather than global model behavior.</a:t>
            </a:r>
            <a:endParaRPr sz="1600">
              <a:solidFill>
                <a:srgbClr val="111111"/>
              </a:solidFill>
            </a:endParaRPr>
          </a:p>
          <a:p>
            <a:pPr indent="0" lvl="0" marL="0" rtl="0" algn="l">
              <a:spcBef>
                <a:spcPts val="1200"/>
              </a:spcBef>
              <a:spcAft>
                <a:spcPts val="0"/>
              </a:spcAft>
              <a:buNone/>
            </a:pPr>
            <a:r>
              <a:rPr lang="en" sz="1600">
                <a:solidFill>
                  <a:srgbClr val="111111"/>
                </a:solidFill>
                <a:latin typeface="Courier New"/>
                <a:ea typeface="Courier New"/>
                <a:cs typeface="Courier New"/>
                <a:sym typeface="Courier New"/>
              </a:rPr>
              <a:t>O</a:t>
            </a:r>
            <a:r>
              <a:rPr lang="en" sz="1600">
                <a:solidFill>
                  <a:srgbClr val="111111"/>
                </a:solidFill>
                <a:latin typeface="Times New Roman"/>
                <a:ea typeface="Times New Roman"/>
                <a:cs typeface="Times New Roman"/>
                <a:sym typeface="Times New Roman"/>
              </a:rPr>
              <a:t> </a:t>
            </a:r>
            <a:r>
              <a:rPr b="1" lang="en" sz="1600">
                <a:solidFill>
                  <a:srgbClr val="111111"/>
                </a:solidFill>
              </a:rPr>
              <a:t>Sampling and Surrogate Dataset</a:t>
            </a:r>
            <a:endParaRPr sz="1600">
              <a:solidFill>
                <a:srgbClr val="111111"/>
              </a:solidFill>
            </a:endParaRPr>
          </a:p>
          <a:p>
            <a:pPr indent="0" lvl="0" marL="0" rtl="0" algn="l">
              <a:spcBef>
                <a:spcPts val="1200"/>
              </a:spcBef>
              <a:spcAft>
                <a:spcPts val="0"/>
              </a:spcAft>
              <a:buNone/>
            </a:pPr>
            <a:r>
              <a:rPr lang="en" sz="1600">
                <a:solidFill>
                  <a:srgbClr val="111111"/>
                </a:solidFill>
                <a:latin typeface="Courier New"/>
                <a:ea typeface="Courier New"/>
                <a:cs typeface="Courier New"/>
                <a:sym typeface="Courier New"/>
              </a:rPr>
              <a:t>O</a:t>
            </a:r>
            <a:r>
              <a:rPr lang="en" sz="1600">
                <a:solidFill>
                  <a:srgbClr val="111111"/>
                </a:solidFill>
                <a:latin typeface="Times New Roman"/>
                <a:ea typeface="Times New Roman"/>
                <a:cs typeface="Times New Roman"/>
                <a:sym typeface="Times New Roman"/>
              </a:rPr>
              <a:t> </a:t>
            </a:r>
            <a:r>
              <a:rPr b="1" lang="en" sz="1600">
                <a:solidFill>
                  <a:srgbClr val="111111"/>
                </a:solidFill>
              </a:rPr>
              <a:t>Creating an Interpretable Model</a:t>
            </a:r>
            <a:endParaRPr sz="1600">
              <a:solidFill>
                <a:srgbClr val="111111"/>
              </a:solidFill>
            </a:endParaRPr>
          </a:p>
          <a:p>
            <a:pPr indent="0" lvl="0" marL="0" rtl="0" algn="l">
              <a:spcBef>
                <a:spcPts val="1200"/>
              </a:spcBef>
              <a:spcAft>
                <a:spcPts val="0"/>
              </a:spcAft>
              <a:buNone/>
            </a:pPr>
            <a:r>
              <a:rPr lang="en" sz="1600">
                <a:solidFill>
                  <a:srgbClr val="111111"/>
                </a:solidFill>
                <a:latin typeface="Courier New"/>
                <a:ea typeface="Courier New"/>
                <a:cs typeface="Courier New"/>
                <a:sym typeface="Courier New"/>
              </a:rPr>
              <a:t>O</a:t>
            </a:r>
            <a:r>
              <a:rPr lang="en" sz="1600">
                <a:solidFill>
                  <a:srgbClr val="111111"/>
                </a:solidFill>
                <a:latin typeface="Times New Roman"/>
                <a:ea typeface="Times New Roman"/>
                <a:cs typeface="Times New Roman"/>
                <a:sym typeface="Times New Roman"/>
              </a:rPr>
              <a:t> </a:t>
            </a:r>
            <a:r>
              <a:rPr lang="en" sz="1600">
                <a:solidFill>
                  <a:srgbClr val="111111"/>
                </a:solidFill>
              </a:rPr>
              <a:t>A </a:t>
            </a:r>
            <a:r>
              <a:rPr b="1" lang="en" sz="1600">
                <a:solidFill>
                  <a:srgbClr val="111111"/>
                </a:solidFill>
              </a:rPr>
              <a:t>decision rule</a:t>
            </a:r>
            <a:r>
              <a:rPr lang="en" sz="1600">
                <a:solidFill>
                  <a:srgbClr val="111111"/>
                </a:solidFill>
              </a:rPr>
              <a:t>: Explains the reasons behind the decision.</a:t>
            </a:r>
            <a:endParaRPr sz="1600">
              <a:solidFill>
                <a:srgbClr val="111111"/>
              </a:solidFill>
            </a:endParaRPr>
          </a:p>
          <a:p>
            <a:pPr indent="0" lvl="0" marL="0" rtl="0" algn="l">
              <a:spcBef>
                <a:spcPts val="1200"/>
              </a:spcBef>
              <a:spcAft>
                <a:spcPts val="1200"/>
              </a:spcAft>
              <a:buNone/>
            </a:pPr>
            <a:r>
              <a:rPr lang="en" sz="1600">
                <a:solidFill>
                  <a:srgbClr val="111111"/>
                </a:solidFill>
                <a:latin typeface="Courier New"/>
                <a:ea typeface="Courier New"/>
                <a:cs typeface="Courier New"/>
                <a:sym typeface="Courier New"/>
              </a:rPr>
              <a:t>O</a:t>
            </a:r>
            <a:r>
              <a:rPr lang="en" sz="1600">
                <a:solidFill>
                  <a:srgbClr val="111111"/>
                </a:solidFill>
                <a:latin typeface="Times New Roman"/>
                <a:ea typeface="Times New Roman"/>
                <a:cs typeface="Times New Roman"/>
                <a:sym typeface="Times New Roman"/>
              </a:rPr>
              <a:t> </a:t>
            </a:r>
            <a:r>
              <a:rPr lang="en" sz="1600">
                <a:solidFill>
                  <a:srgbClr val="111111"/>
                </a:solidFill>
              </a:rPr>
              <a:t>A set of </a:t>
            </a:r>
            <a:r>
              <a:rPr b="1" lang="en" sz="1600">
                <a:solidFill>
                  <a:srgbClr val="111111"/>
                </a:solidFill>
              </a:rPr>
              <a:t>counterfactual rules</a:t>
            </a:r>
            <a:r>
              <a:rPr lang="en" sz="1600">
                <a:solidFill>
                  <a:srgbClr val="111111"/>
                </a:solidFill>
              </a:rPr>
              <a:t>: Suggests feature changes that lead to different outcomes.</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Lore(</a:t>
            </a:r>
            <a:r>
              <a:rPr lang="en" sz="1933">
                <a:solidFill>
                  <a:srgbClr val="90C226"/>
                </a:solidFill>
                <a:latin typeface="Trebuchet MS"/>
                <a:ea typeface="Trebuchet MS"/>
                <a:cs typeface="Trebuchet MS"/>
                <a:sym typeface="Trebuchet MS"/>
              </a:rPr>
              <a:t>Local Rule-Based Explanations of Black Box Decision Systems</a:t>
            </a:r>
            <a:r>
              <a:rPr lang="en" sz="3600">
                <a:solidFill>
                  <a:srgbClr val="90C226"/>
                </a:solidFill>
                <a:latin typeface="Trebuchet MS"/>
                <a:ea typeface="Trebuchet MS"/>
                <a:cs typeface="Trebuchet MS"/>
                <a:sym typeface="Trebuchet MS"/>
              </a:rPr>
              <a:t>)</a:t>
            </a:r>
            <a:endParaRPr/>
          </a:p>
        </p:txBody>
      </p:sp>
      <p:pic>
        <p:nvPicPr>
          <p:cNvPr id="116" name="Google Shape;116;p22"/>
          <p:cNvPicPr preferRelativeResize="0"/>
          <p:nvPr/>
        </p:nvPicPr>
        <p:blipFill>
          <a:blip r:embed="rId3">
            <a:alphaModFix/>
          </a:blip>
          <a:stretch>
            <a:fillRect/>
          </a:stretch>
        </p:blipFill>
        <p:spPr>
          <a:xfrm>
            <a:off x="4640200" y="1140975"/>
            <a:ext cx="3638550" cy="3162300"/>
          </a:xfrm>
          <a:prstGeom prst="rect">
            <a:avLst/>
          </a:prstGeom>
          <a:noFill/>
          <a:ln>
            <a:noFill/>
          </a:ln>
        </p:spPr>
      </p:pic>
      <p:pic>
        <p:nvPicPr>
          <p:cNvPr id="117" name="Google Shape;117;p22"/>
          <p:cNvPicPr preferRelativeResize="0"/>
          <p:nvPr/>
        </p:nvPicPr>
        <p:blipFill>
          <a:blip r:embed="rId4">
            <a:alphaModFix/>
          </a:blip>
          <a:stretch>
            <a:fillRect/>
          </a:stretch>
        </p:blipFill>
        <p:spPr>
          <a:xfrm>
            <a:off x="533775" y="1140975"/>
            <a:ext cx="3949257"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SHAP(</a:t>
            </a:r>
            <a:r>
              <a:rPr lang="en" sz="1994">
                <a:solidFill>
                  <a:srgbClr val="90C226"/>
                </a:solidFill>
                <a:latin typeface="Trebuchet MS"/>
                <a:ea typeface="Trebuchet MS"/>
                <a:cs typeface="Trebuchet MS"/>
                <a:sym typeface="Trebuchet MS"/>
              </a:rPr>
              <a:t>SHapley Additive exPlanation</a:t>
            </a:r>
            <a:r>
              <a:rPr lang="en" sz="3600">
                <a:solidFill>
                  <a:srgbClr val="90C226"/>
                </a:solidFill>
                <a:latin typeface="Trebuchet MS"/>
                <a:ea typeface="Trebuchet MS"/>
                <a:cs typeface="Trebuchet MS"/>
                <a:sym typeface="Trebuchet MS"/>
              </a:rPr>
              <a:t>)</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550">
              <a:solidFill>
                <a:srgbClr val="333333"/>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600">
                <a:solidFill>
                  <a:srgbClr val="111111"/>
                </a:solidFill>
                <a:latin typeface="Courier New"/>
                <a:ea typeface="Courier New"/>
                <a:cs typeface="Courier New"/>
                <a:sym typeface="Courier New"/>
              </a:rPr>
              <a:t>O </a:t>
            </a:r>
            <a:r>
              <a:rPr lang="en" sz="1600">
                <a:solidFill>
                  <a:srgbClr val="333333"/>
                </a:solidFill>
                <a:highlight>
                  <a:srgbClr val="FFFFFF"/>
                </a:highlight>
              </a:rPr>
              <a:t>SHAP deconstructs a prediction into a sum of contributions from each of the model's input variables. For each instance in the data (i.e. row), the contribution from each feature towards the model's prediction will vary depending on the values of the variables for that particular instance.</a:t>
            </a:r>
            <a:endParaRPr sz="1850">
              <a:solidFill>
                <a:srgbClr val="333333"/>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550">
              <a:solidFill>
                <a:srgbClr val="333333"/>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600">
                <a:solidFill>
                  <a:srgbClr val="111111"/>
                </a:solidFill>
                <a:latin typeface="Courier New"/>
                <a:ea typeface="Courier New"/>
                <a:cs typeface="Courier New"/>
                <a:sym typeface="Courier New"/>
              </a:rPr>
              <a:t>O </a:t>
            </a:r>
            <a:r>
              <a:rPr lang="en" sz="1600">
                <a:solidFill>
                  <a:srgbClr val="333333"/>
                </a:solidFill>
                <a:highlight>
                  <a:srgbClr val="FFFFFF"/>
                </a:highlight>
              </a:rPr>
              <a:t>A machine learning model's prediction, </a:t>
            </a:r>
            <a:r>
              <a:rPr i="1" lang="en" sz="1600">
                <a:solidFill>
                  <a:srgbClr val="333333"/>
                </a:solidFill>
                <a:highlight>
                  <a:srgbClr val="FFFFFF"/>
                </a:highlight>
              </a:rPr>
              <a:t>f(x),</a:t>
            </a:r>
            <a:r>
              <a:rPr lang="en" sz="1600">
                <a:solidFill>
                  <a:srgbClr val="333333"/>
                </a:solidFill>
                <a:highlight>
                  <a:srgbClr val="FFFFFF"/>
                </a:highlight>
              </a:rPr>
              <a:t> can be represented as the sum of its computed </a:t>
            </a:r>
            <a:r>
              <a:rPr i="1" lang="en" sz="1600">
                <a:solidFill>
                  <a:srgbClr val="333333"/>
                </a:solidFill>
                <a:highlight>
                  <a:srgbClr val="FFFFFF"/>
                </a:highlight>
              </a:rPr>
              <a:t>SHAP values</a:t>
            </a:r>
            <a:r>
              <a:rPr lang="en" sz="1600">
                <a:solidFill>
                  <a:srgbClr val="333333"/>
                </a:solidFill>
                <a:highlight>
                  <a:srgbClr val="FFFFFF"/>
                </a:highlight>
              </a:rPr>
              <a:t>, plus a fixed</a:t>
            </a:r>
            <a:r>
              <a:rPr i="1" lang="en" sz="1600">
                <a:solidFill>
                  <a:srgbClr val="333333"/>
                </a:solidFill>
                <a:highlight>
                  <a:srgbClr val="FFFFFF"/>
                </a:highlight>
              </a:rPr>
              <a:t> base value</a:t>
            </a:r>
            <a:r>
              <a:rPr lang="en" sz="1600">
                <a:solidFill>
                  <a:srgbClr val="333333"/>
                </a:solidFill>
                <a:highlight>
                  <a:srgbClr val="FFFFFF"/>
                </a:highlight>
              </a:rPr>
              <a:t>, such that:</a:t>
            </a:r>
            <a:endParaRPr sz="1600">
              <a:solidFill>
                <a:srgbClr val="333333"/>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b="1" i="1" lang="en" sz="1600">
                <a:solidFill>
                  <a:srgbClr val="333333"/>
                </a:solidFill>
                <a:highlight>
                  <a:srgbClr val="FFFFFF"/>
                </a:highlight>
                <a:latin typeface="Times New Roman"/>
                <a:ea typeface="Times New Roman"/>
                <a:cs typeface="Times New Roman"/>
                <a:sym typeface="Times New Roman"/>
              </a:rPr>
              <a:t>f</a:t>
            </a:r>
            <a:r>
              <a:rPr b="1" lang="en" sz="1600">
                <a:solidFill>
                  <a:srgbClr val="333333"/>
                </a:solidFill>
                <a:highlight>
                  <a:srgbClr val="FFFFFF"/>
                </a:highlight>
                <a:latin typeface="Times New Roman"/>
                <a:ea typeface="Times New Roman"/>
                <a:cs typeface="Times New Roman"/>
                <a:sym typeface="Times New Roman"/>
              </a:rPr>
              <a:t>(</a:t>
            </a:r>
            <a:r>
              <a:rPr b="1" i="1" lang="en" sz="1600">
                <a:solidFill>
                  <a:srgbClr val="333333"/>
                </a:solidFill>
                <a:highlight>
                  <a:srgbClr val="FFFFFF"/>
                </a:highlight>
                <a:latin typeface="Times New Roman"/>
                <a:ea typeface="Times New Roman"/>
                <a:cs typeface="Times New Roman"/>
                <a:sym typeface="Times New Roman"/>
              </a:rPr>
              <a:t>x</a:t>
            </a:r>
            <a:r>
              <a:rPr b="1" lang="en" sz="1600">
                <a:solidFill>
                  <a:srgbClr val="333333"/>
                </a:solidFill>
                <a:highlight>
                  <a:srgbClr val="FFFFFF"/>
                </a:highlight>
                <a:latin typeface="Times New Roman"/>
                <a:ea typeface="Times New Roman"/>
                <a:cs typeface="Times New Roman"/>
                <a:sym typeface="Times New Roman"/>
              </a:rPr>
              <a:t>)=</a:t>
            </a:r>
            <a:r>
              <a:rPr b="1" i="1" lang="en" sz="1600">
                <a:solidFill>
                  <a:srgbClr val="333333"/>
                </a:solidFill>
                <a:highlight>
                  <a:srgbClr val="FFFFFF"/>
                </a:highlight>
                <a:latin typeface="Times New Roman"/>
                <a:ea typeface="Times New Roman"/>
                <a:cs typeface="Times New Roman"/>
                <a:sym typeface="Times New Roman"/>
              </a:rPr>
              <a:t>basevalue</a:t>
            </a:r>
            <a:r>
              <a:rPr b="1" lang="en" sz="1600">
                <a:solidFill>
                  <a:srgbClr val="333333"/>
                </a:solidFill>
                <a:highlight>
                  <a:srgbClr val="FFFFFF"/>
                </a:highlight>
                <a:latin typeface="Times New Roman"/>
                <a:ea typeface="Times New Roman"/>
                <a:cs typeface="Times New Roman"/>
                <a:sym typeface="Times New Roman"/>
              </a:rPr>
              <a:t>+</a:t>
            </a:r>
            <a:r>
              <a:rPr b="1" i="1" lang="en" sz="1600">
                <a:solidFill>
                  <a:srgbClr val="333333"/>
                </a:solidFill>
                <a:highlight>
                  <a:srgbClr val="FFFFFF"/>
                </a:highlight>
                <a:latin typeface="Times New Roman"/>
                <a:ea typeface="Times New Roman"/>
                <a:cs typeface="Times New Roman"/>
                <a:sym typeface="Times New Roman"/>
              </a:rPr>
              <a:t>sum</a:t>
            </a:r>
            <a:r>
              <a:rPr b="1" lang="en" sz="1600">
                <a:solidFill>
                  <a:srgbClr val="333333"/>
                </a:solidFill>
                <a:highlight>
                  <a:srgbClr val="FFFFFF"/>
                </a:highlight>
                <a:latin typeface="Times New Roman"/>
                <a:ea typeface="Times New Roman"/>
                <a:cs typeface="Times New Roman"/>
                <a:sym typeface="Times New Roman"/>
              </a:rPr>
              <a:t>(</a:t>
            </a:r>
            <a:r>
              <a:rPr b="1" i="1" lang="en" sz="1600">
                <a:solidFill>
                  <a:srgbClr val="333333"/>
                </a:solidFill>
                <a:highlight>
                  <a:srgbClr val="FFFFFF"/>
                </a:highlight>
                <a:latin typeface="Times New Roman"/>
                <a:ea typeface="Times New Roman"/>
                <a:cs typeface="Times New Roman"/>
                <a:sym typeface="Times New Roman"/>
              </a:rPr>
              <a:t>SHAPvalues</a:t>
            </a:r>
            <a:r>
              <a:rPr b="1" lang="en" sz="1600">
                <a:solidFill>
                  <a:srgbClr val="333333"/>
                </a:solidFill>
                <a:highlight>
                  <a:srgbClr val="FFFFFF"/>
                </a:highlight>
                <a:latin typeface="Times New Roman"/>
                <a:ea typeface="Times New Roman"/>
                <a:cs typeface="Times New Roman"/>
                <a:sym typeface="Times New Roman"/>
              </a:rPr>
              <a:t>)</a:t>
            </a:r>
            <a:endParaRPr b="1" sz="1600">
              <a:solidFill>
                <a:srgbClr val="333333"/>
              </a:solidFill>
              <a:highlight>
                <a:srgbClr val="FFFFFF"/>
              </a:highlight>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solidFill>
                  <a:srgbClr val="90C226"/>
                </a:solidFill>
                <a:latin typeface="Trebuchet MS"/>
                <a:ea typeface="Trebuchet MS"/>
                <a:cs typeface="Trebuchet MS"/>
                <a:sym typeface="Trebuchet MS"/>
              </a:rPr>
              <a:t>SHAP(</a:t>
            </a:r>
            <a:r>
              <a:rPr lang="en" sz="1994">
                <a:solidFill>
                  <a:srgbClr val="90C226"/>
                </a:solidFill>
                <a:latin typeface="Trebuchet MS"/>
                <a:ea typeface="Trebuchet MS"/>
                <a:cs typeface="Trebuchet MS"/>
                <a:sym typeface="Trebuchet MS"/>
              </a:rPr>
              <a:t>SHapley Additive exPlanation</a:t>
            </a:r>
            <a:r>
              <a:rPr lang="en" sz="3600">
                <a:solidFill>
                  <a:srgbClr val="90C226"/>
                </a:solidFill>
                <a:latin typeface="Trebuchet MS"/>
                <a:ea typeface="Trebuchet MS"/>
                <a:cs typeface="Trebuchet MS"/>
                <a:sym typeface="Trebuchet MS"/>
              </a:rPr>
              <a:t>)</a:t>
            </a:r>
            <a:endParaRPr/>
          </a:p>
        </p:txBody>
      </p:sp>
      <p:pic>
        <p:nvPicPr>
          <p:cNvPr id="129" name="Google Shape;129;p24"/>
          <p:cNvPicPr preferRelativeResize="0"/>
          <p:nvPr/>
        </p:nvPicPr>
        <p:blipFill>
          <a:blip r:embed="rId3">
            <a:alphaModFix/>
          </a:blip>
          <a:stretch>
            <a:fillRect/>
          </a:stretch>
        </p:blipFill>
        <p:spPr>
          <a:xfrm>
            <a:off x="148950" y="2571750"/>
            <a:ext cx="8899527" cy="1997125"/>
          </a:xfrm>
          <a:prstGeom prst="rect">
            <a:avLst/>
          </a:prstGeom>
          <a:noFill/>
          <a:ln>
            <a:noFill/>
          </a:ln>
        </p:spPr>
      </p:pic>
      <p:pic>
        <p:nvPicPr>
          <p:cNvPr id="130" name="Google Shape;130;p24"/>
          <p:cNvPicPr preferRelativeResize="0"/>
          <p:nvPr/>
        </p:nvPicPr>
        <p:blipFill>
          <a:blip r:embed="rId4">
            <a:alphaModFix/>
          </a:blip>
          <a:stretch>
            <a:fillRect/>
          </a:stretch>
        </p:blipFill>
        <p:spPr>
          <a:xfrm>
            <a:off x="1355102" y="1174400"/>
            <a:ext cx="5658176" cy="3786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Explainable Model: Linear Regression Model</a:t>
            </a:r>
            <a:endParaRPr/>
          </a:p>
        </p:txBody>
      </p:sp>
      <p:sp>
        <p:nvSpPr>
          <p:cNvPr id="136" name="Google Shape;136;p25"/>
          <p:cNvSpPr txBox="1"/>
          <p:nvPr>
            <p:ph idx="1" type="body"/>
          </p:nvPr>
        </p:nvSpPr>
        <p:spPr>
          <a:xfrm>
            <a:off x="311700" y="4111450"/>
            <a:ext cx="8520600" cy="851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sz="1300"/>
              <a:t>Features with positive contribution</a:t>
            </a:r>
            <a:r>
              <a:rPr lang="en" sz="1300"/>
              <a:t>: 3 (</a:t>
            </a:r>
            <a:r>
              <a:rPr i="1" lang="en" sz="1300"/>
              <a:t>area mean</a:t>
            </a:r>
            <a:r>
              <a:rPr lang="en" sz="1300"/>
              <a:t>), 21 (</a:t>
            </a:r>
            <a:r>
              <a:rPr i="1" lang="en" sz="1300"/>
              <a:t>texture worst</a:t>
            </a:r>
            <a:r>
              <a:rPr lang="en" sz="1300"/>
              <a:t>), 22 (</a:t>
            </a:r>
            <a:r>
              <a:rPr i="1" lang="en" sz="1300"/>
              <a:t>perimeter worst</a:t>
            </a:r>
            <a:r>
              <a:rPr lang="en" sz="1300"/>
              <a:t>), 23 (</a:t>
            </a:r>
            <a:r>
              <a:rPr i="1" lang="en" sz="1300"/>
              <a:t>area worst</a:t>
            </a:r>
            <a:r>
              <a:rPr lang="en" sz="1300"/>
              <a:t>)</a:t>
            </a:r>
            <a:endParaRPr sz="1300"/>
          </a:p>
          <a:p>
            <a:pPr indent="0" lvl="0" marL="0" rtl="0" algn="l">
              <a:spcBef>
                <a:spcPts val="1200"/>
              </a:spcBef>
              <a:spcAft>
                <a:spcPts val="1200"/>
              </a:spcAft>
              <a:buNone/>
            </a:pPr>
            <a:r>
              <a:rPr b="1" lang="en" sz="1300"/>
              <a:t>Features</a:t>
            </a:r>
            <a:r>
              <a:rPr b="1" lang="en" sz="1300"/>
              <a:t> with negative contribution</a:t>
            </a:r>
            <a:r>
              <a:rPr lang="en" sz="1300"/>
              <a:t>: 0 (</a:t>
            </a:r>
            <a:r>
              <a:rPr i="1" lang="en" sz="1300"/>
              <a:t>radius mean</a:t>
            </a:r>
            <a:r>
              <a:rPr lang="en" sz="1300"/>
              <a:t>), 1 (</a:t>
            </a:r>
            <a:r>
              <a:rPr i="1" lang="en" sz="1300"/>
              <a:t>texture mean</a:t>
            </a:r>
            <a:r>
              <a:rPr lang="en" sz="1300"/>
              <a:t>), 2 (</a:t>
            </a:r>
            <a:r>
              <a:rPr i="1" lang="en" sz="1300"/>
              <a:t>perimeter mean</a:t>
            </a:r>
            <a:r>
              <a:rPr lang="en" sz="1300"/>
              <a:t>) and 20 (</a:t>
            </a:r>
            <a:r>
              <a:rPr i="1" lang="en" sz="1300"/>
              <a:t>radius worst</a:t>
            </a:r>
            <a:r>
              <a:rPr lang="en" sz="1300"/>
              <a:t>)</a:t>
            </a:r>
            <a:endParaRPr sz="1300"/>
          </a:p>
        </p:txBody>
      </p:sp>
      <p:pic>
        <p:nvPicPr>
          <p:cNvPr id="137" name="Google Shape;137;p25"/>
          <p:cNvPicPr preferRelativeResize="0"/>
          <p:nvPr/>
        </p:nvPicPr>
        <p:blipFill>
          <a:blip r:embed="rId3">
            <a:alphaModFix/>
          </a:blip>
          <a:stretch>
            <a:fillRect/>
          </a:stretch>
        </p:blipFill>
        <p:spPr>
          <a:xfrm>
            <a:off x="1129000" y="1076273"/>
            <a:ext cx="6885999" cy="3035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Explainable Model: </a:t>
            </a:r>
            <a:r>
              <a:rPr lang="en" sz="3600">
                <a:solidFill>
                  <a:srgbClr val="90C226"/>
                </a:solidFill>
                <a:latin typeface="Trebuchet MS"/>
                <a:ea typeface="Trebuchet MS"/>
                <a:cs typeface="Trebuchet MS"/>
                <a:sym typeface="Trebuchet MS"/>
              </a:rPr>
              <a:t>Decision Tree</a:t>
            </a:r>
            <a:endParaRPr/>
          </a:p>
        </p:txBody>
      </p:sp>
      <p:sp>
        <p:nvSpPr>
          <p:cNvPr id="143" name="Google Shape;143;p26"/>
          <p:cNvSpPr txBox="1"/>
          <p:nvPr>
            <p:ph idx="1" type="body"/>
          </p:nvPr>
        </p:nvSpPr>
        <p:spPr>
          <a:xfrm>
            <a:off x="311700" y="3917300"/>
            <a:ext cx="8520600" cy="105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1400"/>
              <a:t>Left branch</a:t>
            </a:r>
            <a:r>
              <a:rPr lang="en" sz="1400"/>
              <a:t> </a:t>
            </a:r>
            <a:r>
              <a:rPr b="1" lang="en" sz="1400"/>
              <a:t>(benign)</a:t>
            </a:r>
            <a:r>
              <a:rPr lang="en" sz="1400"/>
              <a:t>: feature 7 (</a:t>
            </a:r>
            <a:r>
              <a:rPr i="1" lang="en" sz="1400"/>
              <a:t>concave points mean</a:t>
            </a:r>
            <a:r>
              <a:rPr lang="en" sz="1400"/>
              <a:t>), feature 20 (</a:t>
            </a:r>
            <a:r>
              <a:rPr i="1" lang="en" sz="1400"/>
              <a:t>radius worst</a:t>
            </a:r>
            <a:r>
              <a:rPr lang="en" sz="1400"/>
              <a:t>) and 13 (</a:t>
            </a:r>
            <a:r>
              <a:rPr i="1" lang="en" sz="1400"/>
              <a:t>area se</a:t>
            </a:r>
            <a:r>
              <a:rPr lang="en" sz="1400"/>
              <a:t>)</a:t>
            </a:r>
            <a:endParaRPr sz="1400"/>
          </a:p>
          <a:p>
            <a:pPr indent="0" lvl="0" marL="0" rtl="0" algn="l">
              <a:spcBef>
                <a:spcPts val="1200"/>
              </a:spcBef>
              <a:spcAft>
                <a:spcPts val="0"/>
              </a:spcAft>
              <a:buClr>
                <a:schemeClr val="dk1"/>
              </a:buClr>
              <a:buSzPct val="78571"/>
              <a:buFont typeface="Arial"/>
              <a:buNone/>
            </a:pPr>
            <a:r>
              <a:rPr b="1" lang="en" sz="1400"/>
              <a:t>Right branch</a:t>
            </a:r>
            <a:r>
              <a:rPr lang="en" sz="1400"/>
              <a:t> </a:t>
            </a:r>
            <a:r>
              <a:rPr b="1" lang="en" sz="1400"/>
              <a:t>(malignant)</a:t>
            </a:r>
            <a:r>
              <a:rPr lang="en" sz="1400"/>
              <a:t>: feature 7, 27 (</a:t>
            </a:r>
            <a:r>
              <a:rPr i="1" lang="en" sz="1400"/>
              <a:t>concave points worst</a:t>
            </a:r>
            <a:r>
              <a:rPr lang="en" sz="1400"/>
              <a:t>) and 19 (</a:t>
            </a:r>
            <a:r>
              <a:rPr i="1" lang="en" sz="1400"/>
              <a:t>fractal dimension se</a:t>
            </a:r>
            <a:r>
              <a:rPr lang="en" sz="1400"/>
              <a:t>)</a:t>
            </a:r>
            <a:endParaRPr sz="1400"/>
          </a:p>
          <a:p>
            <a:pPr indent="0" lvl="0" marL="0" rtl="0" algn="l">
              <a:spcBef>
                <a:spcPts val="1200"/>
              </a:spcBef>
              <a:spcAft>
                <a:spcPts val="1200"/>
              </a:spcAft>
              <a:buNone/>
            </a:pPr>
            <a:r>
              <a:t/>
            </a:r>
            <a:endParaRPr sz="1400"/>
          </a:p>
        </p:txBody>
      </p:sp>
      <p:pic>
        <p:nvPicPr>
          <p:cNvPr id="144" name="Google Shape;144;p26"/>
          <p:cNvPicPr preferRelativeResize="0"/>
          <p:nvPr/>
        </p:nvPicPr>
        <p:blipFill>
          <a:blip r:embed="rId3">
            <a:alphaModFix/>
          </a:blip>
          <a:stretch>
            <a:fillRect/>
          </a:stretch>
        </p:blipFill>
        <p:spPr>
          <a:xfrm>
            <a:off x="311700" y="1168825"/>
            <a:ext cx="8485727" cy="2748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Decision Tree: Instance 5</a:t>
            </a:r>
            <a:endParaRPr/>
          </a:p>
        </p:txBody>
      </p:sp>
      <p:sp>
        <p:nvSpPr>
          <p:cNvPr id="150" name="Google Shape;150;p27"/>
          <p:cNvSpPr txBox="1"/>
          <p:nvPr>
            <p:ph idx="1" type="body"/>
          </p:nvPr>
        </p:nvSpPr>
        <p:spPr>
          <a:xfrm>
            <a:off x="311700" y="1152475"/>
            <a:ext cx="1687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1" name="Google Shape;151;p27"/>
          <p:cNvPicPr preferRelativeResize="0"/>
          <p:nvPr/>
        </p:nvPicPr>
        <p:blipFill>
          <a:blip r:embed="rId3">
            <a:alphaModFix/>
          </a:blip>
          <a:stretch>
            <a:fillRect/>
          </a:stretch>
        </p:blipFill>
        <p:spPr>
          <a:xfrm>
            <a:off x="311700" y="1170175"/>
            <a:ext cx="8520598" cy="36867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Decision Tree: Instance 6</a:t>
            </a:r>
            <a:endParaRPr/>
          </a:p>
        </p:txBody>
      </p:sp>
      <p:sp>
        <p:nvSpPr>
          <p:cNvPr id="157" name="Google Shape;157;p28"/>
          <p:cNvSpPr txBox="1"/>
          <p:nvPr>
            <p:ph idx="1" type="body"/>
          </p:nvPr>
        </p:nvSpPr>
        <p:spPr>
          <a:xfrm>
            <a:off x="311700" y="4012600"/>
            <a:ext cx="8520600" cy="10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Feature 22</a:t>
            </a:r>
            <a:r>
              <a:rPr lang="en" sz="1400"/>
              <a:t>: </a:t>
            </a:r>
            <a:r>
              <a:rPr i="1" lang="en" sz="1400"/>
              <a:t>perimeter_worst</a:t>
            </a:r>
            <a:endParaRPr i="1" sz="1400"/>
          </a:p>
          <a:p>
            <a:pPr indent="0" lvl="0" marL="0" rtl="0" algn="l">
              <a:spcBef>
                <a:spcPts val="1200"/>
              </a:spcBef>
              <a:spcAft>
                <a:spcPts val="1200"/>
              </a:spcAft>
              <a:buNone/>
            </a:pPr>
            <a:r>
              <a:rPr b="1" lang="en" sz="1400"/>
              <a:t>Impurity</a:t>
            </a:r>
            <a:r>
              <a:rPr lang="en" sz="1400"/>
              <a:t>: Gini Impurity (for a single sample that is taken from the data set, the likelihood of being misclassified if it were given a random class label)</a:t>
            </a:r>
            <a:endParaRPr sz="1400"/>
          </a:p>
        </p:txBody>
      </p:sp>
      <p:pic>
        <p:nvPicPr>
          <p:cNvPr id="158" name="Google Shape;158;p28"/>
          <p:cNvPicPr preferRelativeResize="0"/>
          <p:nvPr/>
        </p:nvPicPr>
        <p:blipFill>
          <a:blip r:embed="rId3">
            <a:alphaModFix/>
          </a:blip>
          <a:stretch>
            <a:fillRect/>
          </a:stretch>
        </p:blipFill>
        <p:spPr>
          <a:xfrm>
            <a:off x="311700" y="1152475"/>
            <a:ext cx="8520598" cy="2860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Fidelity</a:t>
            </a:r>
            <a:endParaRPr/>
          </a:p>
        </p:txBody>
      </p:sp>
      <p:sp>
        <p:nvSpPr>
          <p:cNvPr id="164" name="Google Shape;16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299720" lvl="0" marL="457200" rtl="0" algn="l">
              <a:spcBef>
                <a:spcPts val="0"/>
              </a:spcBef>
              <a:spcAft>
                <a:spcPts val="0"/>
              </a:spcAft>
              <a:buSzPct val="88889"/>
              <a:buChar char="●"/>
            </a:pPr>
            <a:r>
              <a:rPr lang="en"/>
              <a:t>In the end, we also evaluated the fidelity of the LIME explainer, where we compared the prediction of the black box with the explainer on 10 instances.</a:t>
            </a:r>
            <a:endParaRPr/>
          </a:p>
          <a:p>
            <a:pPr indent="0" lvl="0" marL="457200" rtl="0" algn="l">
              <a:spcBef>
                <a:spcPts val="1200"/>
              </a:spcBef>
              <a:spcAft>
                <a:spcPts val="0"/>
              </a:spcAft>
              <a:buNone/>
            </a:pPr>
            <a:r>
              <a:t/>
            </a:r>
            <a:endParaRPr/>
          </a:p>
          <a:p>
            <a:pPr indent="-299720" lvl="0" marL="457200" rtl="0" algn="l">
              <a:spcBef>
                <a:spcPts val="1200"/>
              </a:spcBef>
              <a:spcAft>
                <a:spcPts val="0"/>
              </a:spcAft>
              <a:buSzPct val="88889"/>
              <a:buChar char="●"/>
            </a:pPr>
            <a:r>
              <a:rPr lang="en"/>
              <a:t>We used the perturbation testing approach where we systematically perturb (modify) the input data based on the explanations and observe the changes in the model's output.</a:t>
            </a:r>
            <a:endParaRPr/>
          </a:p>
          <a:p>
            <a:pPr indent="0" lvl="0" marL="457200" rtl="0" algn="l">
              <a:spcBef>
                <a:spcPts val="1200"/>
              </a:spcBef>
              <a:spcAft>
                <a:spcPts val="0"/>
              </a:spcAft>
              <a:buNone/>
            </a:pPr>
            <a:r>
              <a:t/>
            </a:r>
            <a:endParaRPr/>
          </a:p>
          <a:p>
            <a:pPr indent="-299720" lvl="0" marL="457200" rtl="0" algn="l">
              <a:spcBef>
                <a:spcPts val="1200"/>
              </a:spcBef>
              <a:spcAft>
                <a:spcPts val="0"/>
              </a:spcAft>
              <a:buSzPct val="88889"/>
              <a:buChar char="●"/>
            </a:pPr>
            <a:r>
              <a:rPr lang="en"/>
              <a:t>As metric, we measure the change in output or prediction confidence as a result of the perturbations.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Fidelity</a:t>
            </a:r>
            <a:endParaRPr/>
          </a:p>
        </p:txBody>
      </p:sp>
      <p:sp>
        <p:nvSpPr>
          <p:cNvPr id="170" name="Google Shape;17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07340" lvl="0" marL="457200" rtl="0" algn="l">
              <a:spcBef>
                <a:spcPts val="0"/>
              </a:spcBef>
              <a:spcAft>
                <a:spcPts val="0"/>
              </a:spcAft>
              <a:buSzPct val="100000"/>
              <a:buChar char="●"/>
            </a:pPr>
            <a:r>
              <a:rPr lang="en" sz="1600"/>
              <a:t>We got no accuracy drop using this technique.</a:t>
            </a:r>
            <a:endParaRPr/>
          </a:p>
          <a:p>
            <a:pPr indent="0" lvl="0" marL="457200" rtl="0" algn="l">
              <a:spcBef>
                <a:spcPts val="1200"/>
              </a:spcBef>
              <a:spcAft>
                <a:spcPts val="0"/>
              </a:spcAft>
              <a:buNone/>
            </a:pPr>
            <a:r>
              <a:t/>
            </a:r>
            <a:endParaRPr/>
          </a:p>
          <a:p>
            <a:pPr indent="-307340" lvl="0" marL="457200" rtl="0" algn="l">
              <a:spcBef>
                <a:spcPts val="1200"/>
              </a:spcBef>
              <a:spcAft>
                <a:spcPts val="0"/>
              </a:spcAft>
              <a:buSzPct val="100000"/>
              <a:buChar char="●"/>
            </a:pPr>
            <a:r>
              <a:rPr lang="en" sz="1600"/>
              <a:t>One possibility is that the model's predictions are not heavily reliant on the features identified by LIME explainer as most important, indicating a potential issue with the explainer's fidelity. </a:t>
            </a:r>
            <a:endParaRPr sz="1600"/>
          </a:p>
          <a:p>
            <a:pPr indent="0" lvl="0" marL="457200" rtl="0" algn="l">
              <a:spcBef>
                <a:spcPts val="1200"/>
              </a:spcBef>
              <a:spcAft>
                <a:spcPts val="0"/>
              </a:spcAft>
              <a:buNone/>
            </a:pPr>
            <a:r>
              <a:t/>
            </a:r>
            <a:endParaRPr sz="1600"/>
          </a:p>
          <a:p>
            <a:pPr indent="-307340" lvl="0" marL="457200" rtl="0" algn="l">
              <a:spcBef>
                <a:spcPts val="1200"/>
              </a:spcBef>
              <a:spcAft>
                <a:spcPts val="0"/>
              </a:spcAft>
              <a:buSzPct val="100000"/>
              <a:buChar char="●"/>
            </a:pPr>
            <a:r>
              <a:rPr lang="en" sz="1600"/>
              <a:t>Another possibility is that the model is robust to the specific perturbations applied, or it relies on redundant features for its predictions. </a:t>
            </a:r>
            <a:endParaRPr sz="1600"/>
          </a:p>
          <a:p>
            <a:pPr indent="0" lvl="0" marL="0" rtl="0" algn="l">
              <a:spcBef>
                <a:spcPts val="1200"/>
              </a:spcBef>
              <a:spcAft>
                <a:spcPts val="0"/>
              </a:spcAft>
              <a:buClr>
                <a:schemeClr val="dk1"/>
              </a:buClr>
              <a:buSzPct val="68750"/>
              <a:buFont typeface="Arial"/>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Clr>
                <a:schemeClr val="dk1"/>
              </a:buClr>
              <a:buSzPct val="68750"/>
              <a:buFont typeface="Arial"/>
              <a:buNone/>
            </a:pPr>
            <a:r>
              <a:t/>
            </a:r>
            <a:endParaRPr sz="1600"/>
          </a:p>
          <a:p>
            <a:pPr indent="0" lvl="0" marL="0" rtl="0" algn="l">
              <a:spcBef>
                <a:spcPts val="1200"/>
              </a:spcBef>
              <a:spcAft>
                <a:spcPts val="1200"/>
              </a:spcAft>
              <a:buNone/>
            </a:pPr>
            <a:r>
              <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0556"/>
              <a:buFont typeface="Arial"/>
              <a:buNone/>
            </a:pPr>
            <a:r>
              <a:rPr lang="en" sz="3600">
                <a:solidFill>
                  <a:srgbClr val="90C226"/>
                </a:solidFill>
                <a:latin typeface="Trebuchet MS"/>
                <a:ea typeface="Trebuchet MS"/>
                <a:cs typeface="Trebuchet MS"/>
                <a:sym typeface="Trebuchet MS"/>
              </a:rPr>
              <a:t>Conclusion</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Explainable AI can address trust issues in healthcare, providing accurate and reliable explanations for AI-generated decisions, fostering </a:t>
            </a:r>
            <a:r>
              <a:rPr b="1" lang="en" sz="1100">
                <a:solidFill>
                  <a:schemeClr val="dk1"/>
                </a:solidFill>
              </a:rPr>
              <a:t>confidence among patients and medical professionals</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